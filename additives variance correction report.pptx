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0" r:id="rId6"/>
    <p:sldId id="259" r:id="rId7"/>
    <p:sldId id="264"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1" autoAdjust="0"/>
    <p:restoredTop sz="94660"/>
  </p:normalViewPr>
  <p:slideViewPr>
    <p:cSldViewPr snapToGrid="0">
      <p:cViewPr varScale="1">
        <p:scale>
          <a:sx n="119" d="100"/>
          <a:sy n="119" d="100"/>
        </p:scale>
        <p:origin x="155"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Time Study on the Additives Infeed Process on Extruder 4 and 6 throughout Shift A, B, and C</a:t>
            </a:r>
            <a:endParaRPr lang="en-CA"/>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CA"/>
        </a:p>
      </c:txPr>
    </c:title>
    <c:autoTitleDeleted val="0"/>
    <c:plotArea>
      <c:layout/>
      <c:barChart>
        <c:barDir val="col"/>
        <c:grouping val="stacked"/>
        <c:varyColors val="0"/>
        <c:ser>
          <c:idx val="0"/>
          <c:order val="0"/>
          <c:tx>
            <c:strRef>
              <c:f>Sheet1!$B$1</c:f>
              <c:strCache>
                <c:ptCount val="1"/>
                <c:pt idx="0">
                  <c:v>Shift Initialization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Sheet1!$B$2:$B$7</c:f>
              <c:numCache>
                <c:formatCode>General</c:formatCode>
                <c:ptCount val="6"/>
                <c:pt idx="0">
                  <c:v>16.5</c:v>
                </c:pt>
                <c:pt idx="1">
                  <c:v>19.8</c:v>
                </c:pt>
                <c:pt idx="2">
                  <c:v>14.85</c:v>
                </c:pt>
                <c:pt idx="3">
                  <c:v>17.02</c:v>
                </c:pt>
                <c:pt idx="4">
                  <c:v>20.37</c:v>
                </c:pt>
                <c:pt idx="5">
                  <c:v>15.32</c:v>
                </c:pt>
              </c:numCache>
            </c:numRef>
          </c:val>
          <c:extLst>
            <c:ext xmlns:c16="http://schemas.microsoft.com/office/drawing/2014/chart" uri="{C3380CC4-5D6E-409C-BE32-E72D297353CC}">
              <c16:uniqueId val="{00000000-B913-47DF-962D-1A6858FE16EC}"/>
            </c:ext>
          </c:extLst>
        </c:ser>
        <c:ser>
          <c:idx val="1"/>
          <c:order val="1"/>
          <c:tx>
            <c:strRef>
              <c:f>Sheet1!$C$1</c:f>
              <c:strCache>
                <c:ptCount val="1"/>
                <c:pt idx="0">
                  <c:v>Pre-Production Calibration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Sheet1!$C$2:$C$7</c:f>
              <c:numCache>
                <c:formatCode>General</c:formatCode>
                <c:ptCount val="6"/>
                <c:pt idx="0">
                  <c:v>0.66700000000000004</c:v>
                </c:pt>
                <c:pt idx="1">
                  <c:v>1.125</c:v>
                </c:pt>
                <c:pt idx="2">
                  <c:v>1.35</c:v>
                </c:pt>
                <c:pt idx="3">
                  <c:v>1.258</c:v>
                </c:pt>
                <c:pt idx="4">
                  <c:v>1.4339999999999999</c:v>
                </c:pt>
                <c:pt idx="5">
                  <c:v>1.008</c:v>
                </c:pt>
              </c:numCache>
            </c:numRef>
          </c:val>
          <c:extLst>
            <c:ext xmlns:c16="http://schemas.microsoft.com/office/drawing/2014/chart" uri="{C3380CC4-5D6E-409C-BE32-E72D297353CC}">
              <c16:uniqueId val="{00000001-B913-47DF-962D-1A6858FE16EC}"/>
            </c:ext>
          </c:extLst>
        </c:ser>
        <c:ser>
          <c:idx val="2"/>
          <c:order val="2"/>
          <c:tx>
            <c:strRef>
              <c:f>Sheet1!$D$1</c:f>
              <c:strCache>
                <c:ptCount val="1"/>
                <c:pt idx="0">
                  <c:v>Periodic Production Inspection</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Sheet1!$D$2:$D$7</c:f>
              <c:numCache>
                <c:formatCode>General</c:formatCode>
                <c:ptCount val="6"/>
                <c:pt idx="0">
                  <c:v>10.25</c:v>
                </c:pt>
                <c:pt idx="1">
                  <c:v>11.28</c:v>
                </c:pt>
                <c:pt idx="2">
                  <c:v>13.33</c:v>
                </c:pt>
                <c:pt idx="3">
                  <c:v>13.08</c:v>
                </c:pt>
                <c:pt idx="4">
                  <c:v>14.39</c:v>
                </c:pt>
                <c:pt idx="5">
                  <c:v>17</c:v>
                </c:pt>
              </c:numCache>
            </c:numRef>
          </c:val>
          <c:extLst>
            <c:ext xmlns:c16="http://schemas.microsoft.com/office/drawing/2014/chart" uri="{C3380CC4-5D6E-409C-BE32-E72D297353CC}">
              <c16:uniqueId val="{00000002-B913-47DF-962D-1A6858FE16EC}"/>
            </c:ext>
          </c:extLst>
        </c:ser>
        <c:ser>
          <c:idx val="3"/>
          <c:order val="3"/>
          <c:tx>
            <c:strRef>
              <c:f>Sheet1!$E$1</c:f>
              <c:strCache>
                <c:ptCount val="1"/>
                <c:pt idx="0">
                  <c:v>Production Quality Inspection</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Sheet1!$E$2:$E$7</c:f>
              <c:numCache>
                <c:formatCode>General</c:formatCode>
                <c:ptCount val="6"/>
                <c:pt idx="0">
                  <c:v>3.25</c:v>
                </c:pt>
                <c:pt idx="1">
                  <c:v>3.9</c:v>
                </c:pt>
                <c:pt idx="2">
                  <c:v>4.88</c:v>
                </c:pt>
                <c:pt idx="3">
                  <c:v>3.55</c:v>
                </c:pt>
                <c:pt idx="4">
                  <c:v>4.2300000000000004</c:v>
                </c:pt>
                <c:pt idx="5">
                  <c:v>5.27</c:v>
                </c:pt>
              </c:numCache>
            </c:numRef>
          </c:val>
          <c:extLst>
            <c:ext xmlns:c16="http://schemas.microsoft.com/office/drawing/2014/chart" uri="{C3380CC4-5D6E-409C-BE32-E72D297353CC}">
              <c16:uniqueId val="{00000003-B913-47DF-962D-1A6858FE16EC}"/>
            </c:ext>
          </c:extLst>
        </c:ser>
        <c:ser>
          <c:idx val="4"/>
          <c:order val="4"/>
          <c:tx>
            <c:strRef>
              <c:f>Sheet1!$F$1</c:f>
              <c:strCache>
                <c:ptCount val="1"/>
                <c:pt idx="0">
                  <c:v>Re-calibration</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Sheet1!$F$2:$F$7</c:f>
              <c:numCache>
                <c:formatCode>General</c:formatCode>
                <c:ptCount val="6"/>
                <c:pt idx="0">
                  <c:v>1.08</c:v>
                </c:pt>
                <c:pt idx="1">
                  <c:v>1.35</c:v>
                </c:pt>
                <c:pt idx="2">
                  <c:v>1.84</c:v>
                </c:pt>
                <c:pt idx="3">
                  <c:v>1.1499999999999999</c:v>
                </c:pt>
                <c:pt idx="4">
                  <c:v>1.43</c:v>
                </c:pt>
                <c:pt idx="5">
                  <c:v>1.93</c:v>
                </c:pt>
              </c:numCache>
            </c:numRef>
          </c:val>
          <c:extLst>
            <c:ext xmlns:c16="http://schemas.microsoft.com/office/drawing/2014/chart" uri="{C3380CC4-5D6E-409C-BE32-E72D297353CC}">
              <c16:uniqueId val="{00000004-B913-47DF-962D-1A6858FE16EC}"/>
            </c:ext>
          </c:extLst>
        </c:ser>
        <c:ser>
          <c:idx val="5"/>
          <c:order val="5"/>
          <c:tx>
            <c:strRef>
              <c:f>Sheet1!$G$1</c:f>
              <c:strCache>
                <c:ptCount val="1"/>
                <c:pt idx="0">
                  <c:v>Shift Changeover</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Sheet1!$A$2:$A$7</c:f>
              <c:strCache>
                <c:ptCount val="6"/>
                <c:pt idx="0">
                  <c:v>Ext 4, Shift A</c:v>
                </c:pt>
                <c:pt idx="1">
                  <c:v>Ext 4, Shift B</c:v>
                </c:pt>
                <c:pt idx="2">
                  <c:v>Ext 4, Shift C</c:v>
                </c:pt>
                <c:pt idx="3">
                  <c:v>Ext 6, Shift A</c:v>
                </c:pt>
                <c:pt idx="4">
                  <c:v>Ext 6, Shift B</c:v>
                </c:pt>
                <c:pt idx="5">
                  <c:v>Ext 6, Shift C</c:v>
                </c:pt>
              </c:strCache>
            </c:strRef>
          </c:cat>
          <c:val>
            <c:numRef>
              <c:f>Sheet1!$G$2:$G$7</c:f>
              <c:numCache>
                <c:formatCode>General</c:formatCode>
                <c:ptCount val="6"/>
                <c:pt idx="0">
                  <c:v>2.75</c:v>
                </c:pt>
                <c:pt idx="1">
                  <c:v>2.48</c:v>
                </c:pt>
                <c:pt idx="2">
                  <c:v>3.85</c:v>
                </c:pt>
                <c:pt idx="3">
                  <c:v>2.75</c:v>
                </c:pt>
                <c:pt idx="4">
                  <c:v>2.48</c:v>
                </c:pt>
                <c:pt idx="5">
                  <c:v>3.58</c:v>
                </c:pt>
              </c:numCache>
            </c:numRef>
          </c:val>
          <c:extLst>
            <c:ext xmlns:c16="http://schemas.microsoft.com/office/drawing/2014/chart" uri="{C3380CC4-5D6E-409C-BE32-E72D297353CC}">
              <c16:uniqueId val="{00000005-B913-47DF-962D-1A6858FE16EC}"/>
            </c:ext>
          </c:extLst>
        </c:ser>
        <c:dLbls>
          <c:dLblPos val="ctr"/>
          <c:showLegendKey val="0"/>
          <c:showVal val="1"/>
          <c:showCatName val="0"/>
          <c:showSerName val="0"/>
          <c:showPercent val="0"/>
          <c:showBubbleSize val="0"/>
        </c:dLbls>
        <c:gapWidth val="150"/>
        <c:overlap val="100"/>
        <c:axId val="1170482991"/>
        <c:axId val="1170471951"/>
      </c:barChart>
      <c:catAx>
        <c:axId val="1170482991"/>
        <c:scaling>
          <c:orientation val="minMax"/>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a:t>Extruder No. and Shift</a:t>
                </a:r>
                <a:endParaRPr lang="en-CA"/>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CA"/>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170471951"/>
        <c:crosses val="autoZero"/>
        <c:auto val="1"/>
        <c:lblAlgn val="ctr"/>
        <c:lblOffset val="100"/>
        <c:noMultiLvlLbl val="0"/>
      </c:catAx>
      <c:valAx>
        <c:axId val="1170471951"/>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a:t>Time (Minutes)</a:t>
                </a:r>
                <a:endParaRPr lang="en-CA"/>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CA"/>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170482991"/>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3">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2A27E-F22C-A162-4CE9-9BDB4E46C7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385FF25-01D0-9687-D990-3A6C1539DC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56EC4F5-AEE3-D58A-7024-C4258F486AB0}"/>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6B50C89F-547E-CB88-8DEC-336AC6164F9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1973CD2-FE9B-0FDA-DA37-86A3B5EA5C4D}"/>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1471651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E2DE-EA92-B7D7-579E-FCBC2782CA5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B40E7C4-8990-8F32-CB94-D1FE1342B9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717B22E-EA78-3ABB-0E64-FEA136B3561C}"/>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76D4F082-466B-E559-806B-ABFB5DEC10A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4D2718-97FC-1EFB-0FD0-619CD068A4DB}"/>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569922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6FAB2-BB11-BC16-4044-E3FC1DC5CF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898EE9-8BD7-F167-A4B5-9D172D82AE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CF936-7090-7782-24C1-5EABC54B8526}"/>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8510DA8B-3150-170E-69E5-FCB6A184746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A343CBD-89E8-3353-9818-3AC255D98BB2}"/>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4232953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8E19-2CEB-05C6-EC72-13DEFE56EDD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91148F5-4651-7FEF-724D-5B00AD3F9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E3040D2-F6B9-691C-2C37-EDEDE37AD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6A9F4BC-C67E-CB7D-B463-598F38EB92B5}"/>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6" name="Footer Placeholder 5">
            <a:extLst>
              <a:ext uri="{FF2B5EF4-FFF2-40B4-BE49-F238E27FC236}">
                <a16:creationId xmlns:a16="http://schemas.microsoft.com/office/drawing/2014/main" id="{B86E25DF-02F9-F77B-2C1F-26A9AB256F9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2127A37-4D83-D5BF-C4FD-741D84D2210F}"/>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2511225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6268-9B95-6A81-21E6-A1386BECA28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7E6F646-EA08-94CF-4E8D-1C1961BA7F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DB92D-7149-4C9F-D436-9B7E3E7E9D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74AEAC0-FC9C-D149-9E3C-65B857AA4B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D087E9-8A49-B7D0-8DE0-E31ED728DF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F719DC3-7574-EDCE-6945-BC59596AAE08}"/>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8" name="Footer Placeholder 7">
            <a:extLst>
              <a:ext uri="{FF2B5EF4-FFF2-40B4-BE49-F238E27FC236}">
                <a16:creationId xmlns:a16="http://schemas.microsoft.com/office/drawing/2014/main" id="{E7AEB41C-1BF3-F7AB-DAC4-6274F25F6E7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09BE20B-565A-6620-1439-848B796E617A}"/>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2506132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03BFE-81C0-196A-B4EF-0B647E1863E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7323DFE-20DE-B7F4-402B-E4F82621A9E4}"/>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4" name="Footer Placeholder 3">
            <a:extLst>
              <a:ext uri="{FF2B5EF4-FFF2-40B4-BE49-F238E27FC236}">
                <a16:creationId xmlns:a16="http://schemas.microsoft.com/office/drawing/2014/main" id="{8EC7807E-1BAC-5783-EE32-835613D8F89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F6251E4C-ED40-55B1-203A-2CCBA546562F}"/>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1698476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E6B1C8-DC21-A0A5-92E3-6C7C4EC74F84}"/>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3" name="Footer Placeholder 2">
            <a:extLst>
              <a:ext uri="{FF2B5EF4-FFF2-40B4-BE49-F238E27FC236}">
                <a16:creationId xmlns:a16="http://schemas.microsoft.com/office/drawing/2014/main" id="{0B951446-429B-2A70-8FB1-89B8A08646D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660D36E-8EFA-A946-D588-0280F750875F}"/>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2225594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A484-77A5-CE3D-E15D-E54F61561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F597893-DE40-8859-2142-6B50834914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E15F423-0F60-CE80-933F-48B82E853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CF81A4-1A5A-FF7B-DC55-6B164F5928D7}"/>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6" name="Footer Placeholder 5">
            <a:extLst>
              <a:ext uri="{FF2B5EF4-FFF2-40B4-BE49-F238E27FC236}">
                <a16:creationId xmlns:a16="http://schemas.microsoft.com/office/drawing/2014/main" id="{F25216E9-C654-99D4-999E-F34B5D9D8F5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5139865-6EBF-7656-8B91-6CC61391AD0E}"/>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1529695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EAFF3-C252-6C77-E864-705A45027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F2967D3-11F7-EF22-0A54-69542D3BAB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2077997-9087-C278-E36E-14A702BA4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3160F-63C1-0B02-92BB-08B9E55D7A7C}"/>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6" name="Footer Placeholder 5">
            <a:extLst>
              <a:ext uri="{FF2B5EF4-FFF2-40B4-BE49-F238E27FC236}">
                <a16:creationId xmlns:a16="http://schemas.microsoft.com/office/drawing/2014/main" id="{1330388B-4C5C-60B2-B385-A0890488FDC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C6A27D9-14CE-8A60-4E61-91D45687C110}"/>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38024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C4D4-B462-9D43-4E62-7D290374247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C308D1C-1179-99C8-A24B-AEC1A8F9DA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B88D3E-9180-D39D-9FE4-B692B4DF3126}"/>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8E732989-6F2D-E5E1-3F14-5E41B2429E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4FB459-7F98-7DAF-2928-D1D8D955DB11}"/>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3271296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4D9977-B347-21CA-73D7-046452D3B1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621CBF5-8617-D9E6-CC97-2F633F2727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E32D31-F760-9F74-4027-AED19EBE712E}"/>
              </a:ext>
            </a:extLst>
          </p:cNvPr>
          <p:cNvSpPr>
            <a:spLocks noGrp="1"/>
          </p:cNvSpPr>
          <p:nvPr>
            <p:ph type="dt" sz="half" idx="10"/>
          </p:nvPr>
        </p:nvSpPr>
        <p:spPr/>
        <p:txBody>
          <a:body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BBE29E4B-38A8-EA9C-46F6-676E701192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3E6C75-EDAA-8E6A-F98B-BAC96D390042}"/>
              </a:ext>
            </a:extLst>
          </p:cNvPr>
          <p:cNvSpPr>
            <a:spLocks noGrp="1"/>
          </p:cNvSpPr>
          <p:nvPr>
            <p:ph type="sldNum" sz="quarter" idx="12"/>
          </p:nvPr>
        </p:nvSpPr>
        <p:spPr/>
        <p:txBody>
          <a:bodyPr/>
          <a:lstStyle/>
          <a:p>
            <a:fld id="{8D20E3BB-E49A-4640-8A38-236FDC44F555}" type="slidenum">
              <a:rPr lang="en-CA" smtClean="0"/>
              <a:t>‹#›</a:t>
            </a:fld>
            <a:endParaRPr lang="en-CA"/>
          </a:p>
        </p:txBody>
      </p:sp>
    </p:spTree>
    <p:extLst>
      <p:ext uri="{BB962C8B-B14F-4D97-AF65-F5344CB8AC3E}">
        <p14:creationId xmlns:p14="http://schemas.microsoft.com/office/powerpoint/2010/main" val="328014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D2DCF8-59D8-4593-EEEF-7F58828DBD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C05FEFF-9029-632A-2B8E-1ECD17E416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0B0FD0-0BBB-E253-EB7D-FD33152AD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6CC16F-CE20-46A9-BFF4-66B71FC5F3DD}" type="datetimeFigureOut">
              <a:rPr lang="en-CA" smtClean="0"/>
              <a:t>2026-06-10</a:t>
            </a:fld>
            <a:endParaRPr lang="en-CA"/>
          </a:p>
        </p:txBody>
      </p:sp>
      <p:sp>
        <p:nvSpPr>
          <p:cNvPr id="5" name="Footer Placeholder 4">
            <a:extLst>
              <a:ext uri="{FF2B5EF4-FFF2-40B4-BE49-F238E27FC236}">
                <a16:creationId xmlns:a16="http://schemas.microsoft.com/office/drawing/2014/main" id="{182440DD-B01A-6FDC-E0D0-698224B90E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028C3B07-340B-E655-D513-7990FCB5DE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20E3BB-E49A-4640-8A38-236FDC44F555}" type="slidenum">
              <a:rPr lang="en-CA" smtClean="0"/>
              <a:t>‹#›</a:t>
            </a:fld>
            <a:endParaRPr lang="en-CA"/>
          </a:p>
        </p:txBody>
      </p:sp>
    </p:spTree>
    <p:extLst>
      <p:ext uri="{BB962C8B-B14F-4D97-AF65-F5344CB8AC3E}">
        <p14:creationId xmlns:p14="http://schemas.microsoft.com/office/powerpoint/2010/main" val="991862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ansonm316/additives-variance-correction/blob/main/project%20report.md"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5360-E60D-4655-2057-122444C93135}"/>
              </a:ext>
            </a:extLst>
          </p:cNvPr>
          <p:cNvSpPr>
            <a:spLocks noGrp="1"/>
          </p:cNvSpPr>
          <p:nvPr>
            <p:ph type="ctrTitle"/>
          </p:nvPr>
        </p:nvSpPr>
        <p:spPr>
          <a:xfrm>
            <a:off x="1524000" y="1496436"/>
            <a:ext cx="9144000" cy="2387600"/>
          </a:xfrm>
        </p:spPr>
        <p:txBody>
          <a:bodyPr/>
          <a:lstStyle/>
          <a:p>
            <a:r>
              <a:rPr lang="en-US" b="1" dirty="0">
                <a:latin typeface="Neue Haas Grotesk Text Pro" panose="020B0504020202020204" pitchFamily="34" charset="0"/>
              </a:rPr>
              <a:t>ADDITIVES VARIANCE CORRECTION REPORT</a:t>
            </a:r>
            <a:endParaRPr lang="en-CA" b="1" dirty="0">
              <a:latin typeface="Neue Haas Grotesk Text Pro" panose="020B0504020202020204" pitchFamily="34" charset="0"/>
            </a:endParaRPr>
          </a:p>
        </p:txBody>
      </p:sp>
      <p:sp>
        <p:nvSpPr>
          <p:cNvPr id="3" name="Subtitle 2">
            <a:extLst>
              <a:ext uri="{FF2B5EF4-FFF2-40B4-BE49-F238E27FC236}">
                <a16:creationId xmlns:a16="http://schemas.microsoft.com/office/drawing/2014/main" id="{1F1A422C-8E19-46AC-40CA-9FC45EAF259A}"/>
              </a:ext>
            </a:extLst>
          </p:cNvPr>
          <p:cNvSpPr>
            <a:spLocks noGrp="1"/>
          </p:cNvSpPr>
          <p:nvPr>
            <p:ph type="subTitle" idx="1"/>
          </p:nvPr>
        </p:nvSpPr>
        <p:spPr>
          <a:xfrm>
            <a:off x="1524000" y="4272994"/>
            <a:ext cx="9144000" cy="453385"/>
          </a:xfrm>
        </p:spPr>
        <p:txBody>
          <a:bodyPr/>
          <a:lstStyle/>
          <a:p>
            <a:r>
              <a:rPr lang="en-US" dirty="0">
                <a:latin typeface="Neue Haas Grotesk Text Pro" panose="020B0504020202020204" pitchFamily="34" charset="0"/>
              </a:rPr>
              <a:t>June 11</a:t>
            </a:r>
            <a:r>
              <a:rPr lang="en-US" baseline="30000" dirty="0">
                <a:latin typeface="Neue Haas Grotesk Text Pro" panose="020B0504020202020204" pitchFamily="34" charset="0"/>
              </a:rPr>
              <a:t>th</a:t>
            </a:r>
            <a:r>
              <a:rPr lang="en-US" dirty="0">
                <a:latin typeface="Neue Haas Grotesk Text Pro" panose="020B0504020202020204" pitchFamily="34" charset="0"/>
              </a:rPr>
              <a:t>, 2026</a:t>
            </a:r>
            <a:endParaRPr lang="en-CA" dirty="0">
              <a:latin typeface="Neue Haas Grotesk Text Pro" panose="020B0504020202020204" pitchFamily="34" charset="0"/>
            </a:endParaRPr>
          </a:p>
        </p:txBody>
      </p:sp>
    </p:spTree>
    <p:extLst>
      <p:ext uri="{BB962C8B-B14F-4D97-AF65-F5344CB8AC3E}">
        <p14:creationId xmlns:p14="http://schemas.microsoft.com/office/powerpoint/2010/main" val="2985169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C163-D893-17C6-0D6E-CED9FAABECD5}"/>
              </a:ext>
            </a:extLst>
          </p:cNvPr>
          <p:cNvSpPr>
            <a:spLocks noGrp="1"/>
          </p:cNvSpPr>
          <p:nvPr>
            <p:ph type="title"/>
          </p:nvPr>
        </p:nvSpPr>
        <p:spPr/>
        <p:txBody>
          <a:bodyPr/>
          <a:lstStyle/>
          <a:p>
            <a:r>
              <a:rPr lang="en-US" b="1" dirty="0">
                <a:latin typeface="Neue Haas Grotesk Text Pro" panose="020B0504020202020204" pitchFamily="34" charset="0"/>
              </a:rPr>
              <a:t>PROCESS OVERVIEW</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260E832B-714C-6C3B-EE7E-5C0BEF237DC5}"/>
              </a:ext>
            </a:extLst>
          </p:cNvPr>
          <p:cNvSpPr>
            <a:spLocks noGrp="1"/>
          </p:cNvSpPr>
          <p:nvPr>
            <p:ph idx="1"/>
          </p:nvPr>
        </p:nvSpPr>
        <p:spPr/>
        <p:txBody>
          <a:bodyPr>
            <a:normAutofit/>
          </a:bodyPr>
          <a:lstStyle/>
          <a:p>
            <a:pPr marL="342900" indent="-342900">
              <a:buFont typeface="+mj-lt"/>
              <a:buAutoNum type="arabicPeriod"/>
            </a:pPr>
            <a:r>
              <a:rPr lang="en-US" sz="1600" dirty="0">
                <a:latin typeface="Neue Haas Grotesk Text Pro" panose="020B0504020202020204" pitchFamily="34" charset="0"/>
              </a:rPr>
              <a:t>Outgoing operators exchange information regarding the dosing unit parameters, temporary changes, and any problems that occurred during the shift with the incoming operator.</a:t>
            </a:r>
          </a:p>
          <a:p>
            <a:pPr marL="342900" indent="-342900">
              <a:buFont typeface="+mj-lt"/>
              <a:buAutoNum type="arabicPeriod"/>
            </a:pPr>
            <a:r>
              <a:rPr lang="en-US" sz="1600" dirty="0">
                <a:latin typeface="Neue Haas Grotesk Text Pro" panose="020B0504020202020204" pitchFamily="34" charset="0"/>
              </a:rPr>
              <a:t>Extruder operator informs the Team Lead about the additives needed for the job, the Team Lead then informs the forklift operator to retrieve the additives in the additives area.</a:t>
            </a:r>
          </a:p>
          <a:p>
            <a:pPr marL="342900" indent="-342900">
              <a:buFont typeface="+mj-lt"/>
              <a:buAutoNum type="arabicPeriod"/>
            </a:pPr>
            <a:r>
              <a:rPr lang="en-US" sz="1600" dirty="0">
                <a:latin typeface="Neue Haas Grotesk Text Pro" panose="020B0504020202020204" pitchFamily="34" charset="0"/>
              </a:rPr>
              <a:t>The additives are brought to the scale and weighed.</a:t>
            </a:r>
          </a:p>
          <a:p>
            <a:pPr marL="342900" indent="-342900">
              <a:buFont typeface="+mj-lt"/>
              <a:buAutoNum type="arabicPeriod"/>
            </a:pPr>
            <a:r>
              <a:rPr lang="en-US" sz="1600" dirty="0">
                <a:latin typeface="Neue Haas Grotesk Text Pro" panose="020B0504020202020204" pitchFamily="34" charset="0"/>
              </a:rPr>
              <a:t>Extruder operator records information and weight of the additives in the additives logbook.</a:t>
            </a:r>
          </a:p>
          <a:p>
            <a:pPr marL="342900" indent="-342900">
              <a:buFont typeface="+mj-lt"/>
              <a:buAutoNum type="arabicPeriod"/>
            </a:pPr>
            <a:r>
              <a:rPr lang="en-US" sz="1600" dirty="0">
                <a:latin typeface="Neue Haas Grotesk Text Pro" panose="020B0504020202020204" pitchFamily="34" charset="0"/>
              </a:rPr>
              <a:t>Adjusts infeed time based on dosing percentage.</a:t>
            </a:r>
          </a:p>
          <a:p>
            <a:pPr marL="342900" indent="-342900">
              <a:buFont typeface="+mj-lt"/>
              <a:buAutoNum type="arabicPeriod"/>
            </a:pPr>
            <a:r>
              <a:rPr lang="en-US" sz="1600" dirty="0">
                <a:latin typeface="Neue Haas Grotesk Text Pro" panose="020B0504020202020204" pitchFamily="34" charset="0"/>
              </a:rPr>
              <a:t>Extruder operator submerges the suction tube nozzle into each additive.</a:t>
            </a:r>
          </a:p>
          <a:p>
            <a:pPr marL="342900" indent="-342900">
              <a:buFont typeface="+mj-lt"/>
              <a:buAutoNum type="arabicPeriod"/>
            </a:pPr>
            <a:r>
              <a:rPr lang="en-US" sz="1600" dirty="0">
                <a:latin typeface="Neue Haas Grotesk Text Pro" panose="020B0504020202020204" pitchFamily="34" charset="0"/>
              </a:rPr>
              <a:t>Occasionally, the extruder operator uses a shovel to fill in cavities created by the suctioning of the vacuum tubes. In the meanwhile, the extruder operators patrol around the extruder to ensure all parts are operating as usual.</a:t>
            </a:r>
          </a:p>
          <a:p>
            <a:pPr marL="342900" indent="-342900">
              <a:buFont typeface="+mj-lt"/>
              <a:buAutoNum type="arabicPeriod"/>
            </a:pPr>
            <a:r>
              <a:rPr lang="en-US" sz="1600" dirty="0">
                <a:latin typeface="Neue Haas Grotesk Text Pro" panose="020B0504020202020204" pitchFamily="34" charset="0"/>
              </a:rPr>
              <a:t>A sample is collected for every four-fifths of a box produced.</a:t>
            </a:r>
          </a:p>
        </p:txBody>
      </p:sp>
    </p:spTree>
    <p:extLst>
      <p:ext uri="{BB962C8B-B14F-4D97-AF65-F5344CB8AC3E}">
        <p14:creationId xmlns:p14="http://schemas.microsoft.com/office/powerpoint/2010/main" val="373687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F3E3-E6A7-14B7-7B2C-33ACCD464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3E9E2-F550-08B3-19EC-7F1E66763D3E}"/>
              </a:ext>
            </a:extLst>
          </p:cNvPr>
          <p:cNvSpPr>
            <a:spLocks noGrp="1"/>
          </p:cNvSpPr>
          <p:nvPr>
            <p:ph type="title"/>
          </p:nvPr>
        </p:nvSpPr>
        <p:spPr/>
        <p:txBody>
          <a:bodyPr/>
          <a:lstStyle/>
          <a:p>
            <a:r>
              <a:rPr lang="en-US" b="1" dirty="0">
                <a:latin typeface="Neue Haas Grotesk Text Pro" panose="020B0504020202020204" pitchFamily="34" charset="0"/>
              </a:rPr>
              <a:t>PROCESS OVERVIEW</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D57DB02C-C2AC-5895-75C4-B37DDBA1DAF3}"/>
              </a:ext>
            </a:extLst>
          </p:cNvPr>
          <p:cNvSpPr>
            <a:spLocks noGrp="1"/>
          </p:cNvSpPr>
          <p:nvPr>
            <p:ph idx="1"/>
          </p:nvPr>
        </p:nvSpPr>
        <p:spPr/>
        <p:txBody>
          <a:bodyPr>
            <a:normAutofit/>
          </a:bodyPr>
          <a:lstStyle/>
          <a:p>
            <a:pPr marL="342900" indent="-342900">
              <a:buFont typeface="+mj-lt"/>
              <a:buAutoNum type="arabicPeriod" startAt="9"/>
            </a:pPr>
            <a:r>
              <a:rPr lang="en-US" sz="1600" dirty="0">
                <a:latin typeface="Neue Haas Grotesk Text Pro" panose="020B0504020202020204" pitchFamily="34" charset="0"/>
              </a:rPr>
              <a:t>The lab provides feedback (if any) on the sample submitted. </a:t>
            </a:r>
          </a:p>
          <a:p>
            <a:pPr marL="342900" indent="-342900">
              <a:buFont typeface="+mj-lt"/>
              <a:buAutoNum type="arabicPeriod" startAt="9"/>
            </a:pPr>
            <a:r>
              <a:rPr lang="en-US" sz="1600" dirty="0">
                <a:latin typeface="Neue Haas Grotesk Text Pro" panose="020B0504020202020204" pitchFamily="34" charset="0"/>
              </a:rPr>
              <a:t>The extruder operators inform the on-duty supervisor about the necessary changes and adjusts the dosing percentages based on the feedback given by the lab. Supervisor changes quantity per throughout the job.</a:t>
            </a:r>
          </a:p>
          <a:p>
            <a:pPr marL="342900" indent="-342900">
              <a:buFont typeface="+mj-lt"/>
              <a:buAutoNum type="arabicPeriod" startAt="9"/>
            </a:pPr>
            <a:r>
              <a:rPr lang="en-US" sz="1600" dirty="0">
                <a:latin typeface="Neue Haas Grotesk Text Pro" panose="020B0504020202020204" pitchFamily="34" charset="0"/>
              </a:rPr>
              <a:t>At the end of the shift, the additives are weighed again and data regarding the additives will be recorded in the additives logbook.</a:t>
            </a:r>
          </a:p>
          <a:p>
            <a:pPr marL="342900" indent="-342900">
              <a:buFont typeface="+mj-lt"/>
              <a:buAutoNum type="arabicPeriod" startAt="9"/>
            </a:pPr>
            <a:endParaRPr lang="en-CA" sz="1600" dirty="0">
              <a:latin typeface="Neue Haas Grotesk Text Pro" panose="020B0504020202020204" pitchFamily="34" charset="0"/>
            </a:endParaRPr>
          </a:p>
        </p:txBody>
      </p:sp>
    </p:spTree>
    <p:extLst>
      <p:ext uri="{BB962C8B-B14F-4D97-AF65-F5344CB8AC3E}">
        <p14:creationId xmlns:p14="http://schemas.microsoft.com/office/powerpoint/2010/main" val="3069109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90ACD-FF8C-8D91-CFF5-6BD8AC7CF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7204C-ECEB-5AE9-2ED9-A7DC29BD2F13}"/>
              </a:ext>
            </a:extLst>
          </p:cNvPr>
          <p:cNvSpPr>
            <a:spLocks noGrp="1"/>
          </p:cNvSpPr>
          <p:nvPr>
            <p:ph type="title"/>
          </p:nvPr>
        </p:nvSpPr>
        <p:spPr/>
        <p:txBody>
          <a:bodyPr/>
          <a:lstStyle/>
          <a:p>
            <a:r>
              <a:rPr lang="en-US" b="1" dirty="0">
                <a:latin typeface="Neue Haas Grotesk Text Pro" panose="020B0504020202020204" pitchFamily="34" charset="0"/>
              </a:rPr>
              <a:t>RAW DATA TABLE</a:t>
            </a:r>
            <a:endParaRPr lang="en-CA" b="1" dirty="0">
              <a:latin typeface="Neue Haas Grotesk Text Pro" panose="020B0504020202020204" pitchFamily="34" charset="0"/>
            </a:endParaRPr>
          </a:p>
        </p:txBody>
      </p:sp>
      <p:sp>
        <p:nvSpPr>
          <p:cNvPr id="4" name="Content Placeholder 3">
            <a:extLst>
              <a:ext uri="{FF2B5EF4-FFF2-40B4-BE49-F238E27FC236}">
                <a16:creationId xmlns:a16="http://schemas.microsoft.com/office/drawing/2014/main" id="{DD8F79E3-F71B-BA6F-A265-C4AE4988A547}"/>
              </a:ext>
            </a:extLst>
          </p:cNvPr>
          <p:cNvSpPr>
            <a:spLocks noGrp="1"/>
          </p:cNvSpPr>
          <p:nvPr>
            <p:ph idx="1"/>
          </p:nvPr>
        </p:nvSpPr>
        <p:spPr/>
        <p:txBody>
          <a:bodyPr>
            <a:normAutofit/>
          </a:bodyPr>
          <a:lstStyle/>
          <a:p>
            <a:r>
              <a:rPr lang="en-US" sz="1600" dirty="0">
                <a:latin typeface="Neue Haas Grotesk Text Pro" panose="020B0504020202020204" pitchFamily="34" charset="0"/>
                <a:hlinkClick r:id="rId2"/>
              </a:rPr>
              <a:t>Link to Raw Data Table</a:t>
            </a:r>
            <a:endParaRPr lang="en-CA" sz="1600" dirty="0">
              <a:latin typeface="Neue Haas Grotesk Text Pro" panose="020B0504020202020204" pitchFamily="34" charset="0"/>
            </a:endParaRPr>
          </a:p>
          <a:p>
            <a:endParaRPr lang="en-CA" sz="1600" dirty="0">
              <a:latin typeface="Neue Haas Grotesk Text Pro" panose="020B0504020202020204" pitchFamily="34" charset="0"/>
            </a:endParaRPr>
          </a:p>
        </p:txBody>
      </p:sp>
      <p:pic>
        <p:nvPicPr>
          <p:cNvPr id="7" name="Picture 6">
            <a:extLst>
              <a:ext uri="{FF2B5EF4-FFF2-40B4-BE49-F238E27FC236}">
                <a16:creationId xmlns:a16="http://schemas.microsoft.com/office/drawing/2014/main" id="{2EB10468-C397-5856-764D-FEA0B23B573E}"/>
              </a:ext>
            </a:extLst>
          </p:cNvPr>
          <p:cNvPicPr>
            <a:picLocks noChangeAspect="1"/>
          </p:cNvPicPr>
          <p:nvPr/>
        </p:nvPicPr>
        <p:blipFill>
          <a:blip r:embed="rId3"/>
          <a:stretch>
            <a:fillRect/>
          </a:stretch>
        </p:blipFill>
        <p:spPr>
          <a:xfrm>
            <a:off x="838200" y="2644574"/>
            <a:ext cx="6056819" cy="3004967"/>
          </a:xfrm>
          <a:prstGeom prst="rect">
            <a:avLst/>
          </a:prstGeom>
        </p:spPr>
      </p:pic>
      <p:pic>
        <p:nvPicPr>
          <p:cNvPr id="9" name="Picture 8">
            <a:extLst>
              <a:ext uri="{FF2B5EF4-FFF2-40B4-BE49-F238E27FC236}">
                <a16:creationId xmlns:a16="http://schemas.microsoft.com/office/drawing/2014/main" id="{E4AA9AA0-44CC-7577-C02B-ACF9660C9CE1}"/>
              </a:ext>
            </a:extLst>
          </p:cNvPr>
          <p:cNvPicPr>
            <a:picLocks noChangeAspect="1"/>
          </p:cNvPicPr>
          <p:nvPr/>
        </p:nvPicPr>
        <p:blipFill>
          <a:blip r:embed="rId4"/>
          <a:stretch>
            <a:fillRect/>
          </a:stretch>
        </p:blipFill>
        <p:spPr>
          <a:xfrm>
            <a:off x="6957028" y="2644574"/>
            <a:ext cx="4544569" cy="3004967"/>
          </a:xfrm>
          <a:prstGeom prst="rect">
            <a:avLst/>
          </a:prstGeom>
        </p:spPr>
      </p:pic>
    </p:spTree>
    <p:extLst>
      <p:ext uri="{BB962C8B-B14F-4D97-AF65-F5344CB8AC3E}">
        <p14:creationId xmlns:p14="http://schemas.microsoft.com/office/powerpoint/2010/main" val="4072284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6092-6166-9C2A-CB33-D1CD57952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24890-38F6-0BAC-E9C2-FDF509E843BA}"/>
              </a:ext>
            </a:extLst>
          </p:cNvPr>
          <p:cNvSpPr>
            <a:spLocks noGrp="1"/>
          </p:cNvSpPr>
          <p:nvPr>
            <p:ph type="title"/>
          </p:nvPr>
        </p:nvSpPr>
        <p:spPr/>
        <p:txBody>
          <a:bodyPr/>
          <a:lstStyle/>
          <a:p>
            <a:r>
              <a:rPr lang="en-US" b="1" dirty="0">
                <a:latin typeface="Neue Haas Grotesk Text Pro" panose="020B0504020202020204" pitchFamily="34" charset="0"/>
              </a:rPr>
              <a:t>TIME STUDY</a:t>
            </a:r>
            <a:endParaRPr lang="en-CA" b="1" dirty="0">
              <a:latin typeface="Neue Haas Grotesk Text Pro" panose="020B0504020202020204" pitchFamily="34" charset="0"/>
            </a:endParaRPr>
          </a:p>
        </p:txBody>
      </p:sp>
      <p:graphicFrame>
        <p:nvGraphicFramePr>
          <p:cNvPr id="6" name="Content Placeholder 5">
            <a:extLst>
              <a:ext uri="{FF2B5EF4-FFF2-40B4-BE49-F238E27FC236}">
                <a16:creationId xmlns:a16="http://schemas.microsoft.com/office/drawing/2014/main" id="{28408FD4-E6F7-BD6B-6A10-EE5DDF58A8C1}"/>
              </a:ext>
            </a:extLst>
          </p:cNvPr>
          <p:cNvGraphicFramePr>
            <a:graphicFrameLocks noGrp="1"/>
          </p:cNvGraphicFramePr>
          <p:nvPr>
            <p:ph idx="1"/>
            <p:extLst>
              <p:ext uri="{D42A27DB-BD31-4B8C-83A1-F6EECF244321}">
                <p14:modId xmlns:p14="http://schemas.microsoft.com/office/powerpoint/2010/main" val="372827135"/>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49544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6C1D-A184-7AFB-6032-474507EAF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A25C7-DF06-5320-28C1-F065EED6A94D}"/>
              </a:ext>
            </a:extLst>
          </p:cNvPr>
          <p:cNvSpPr>
            <a:spLocks noGrp="1"/>
          </p:cNvSpPr>
          <p:nvPr>
            <p:ph type="title"/>
          </p:nvPr>
        </p:nvSpPr>
        <p:spPr/>
        <p:txBody>
          <a:bodyPr/>
          <a:lstStyle/>
          <a:p>
            <a:r>
              <a:rPr lang="en-US" b="1" dirty="0">
                <a:latin typeface="Neue Haas Grotesk Text Pro" panose="020B0504020202020204" pitchFamily="34" charset="0"/>
              </a:rPr>
              <a:t>METHOD GAPS</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430D2CC3-D196-5E92-F488-F239A48BE6B4}"/>
              </a:ext>
            </a:extLst>
          </p:cNvPr>
          <p:cNvSpPr>
            <a:spLocks noGrp="1"/>
          </p:cNvSpPr>
          <p:nvPr>
            <p:ph idx="1"/>
          </p:nvPr>
        </p:nvSpPr>
        <p:spPr/>
        <p:txBody>
          <a:bodyPr>
            <a:normAutofit/>
          </a:bodyPr>
          <a:lstStyle/>
          <a:p>
            <a:r>
              <a:rPr lang="en-US" sz="1600" dirty="0">
                <a:latin typeface="Neue Haas Grotesk Text Pro" panose="020B0504020202020204" pitchFamily="34" charset="0"/>
              </a:rPr>
              <a:t>From observation, the extruder operators and crew executed the standard process within an acceptable amount of time.</a:t>
            </a:r>
          </a:p>
          <a:p>
            <a:pPr marL="0" indent="0">
              <a:buNone/>
            </a:pPr>
            <a:endParaRPr lang="en-US" sz="1600" dirty="0">
              <a:latin typeface="Neue Haas Grotesk Text Pro" panose="020B0504020202020204" pitchFamily="34" charset="0"/>
            </a:endParaRPr>
          </a:p>
          <a:p>
            <a:pPr marL="0" indent="0">
              <a:buNone/>
            </a:pPr>
            <a:r>
              <a:rPr lang="en-US" sz="1600" b="1" dirty="0">
                <a:latin typeface="Neue Haas Grotesk Text Pro" panose="020B0504020202020204" pitchFamily="34" charset="0"/>
              </a:rPr>
              <a:t>MASTERBATCH</a:t>
            </a:r>
          </a:p>
          <a:p>
            <a:r>
              <a:rPr lang="en-US" sz="1600" dirty="0">
                <a:latin typeface="Neue Haas Grotesk Text Pro" panose="020B0504020202020204" pitchFamily="34" charset="0"/>
              </a:rPr>
              <a:t>Extruder operators do not have to notify superiors about changes in Masterbatch dosing percentages.</a:t>
            </a:r>
          </a:p>
          <a:p>
            <a:pPr marL="0" indent="0">
              <a:buNone/>
            </a:pPr>
            <a:endParaRPr lang="en-US" sz="1600" dirty="0">
              <a:latin typeface="Neue Haas Grotesk Text Pro" panose="020B0504020202020204" pitchFamily="34" charset="0"/>
            </a:endParaRPr>
          </a:p>
          <a:p>
            <a:pPr marL="0" indent="0">
              <a:buNone/>
            </a:pPr>
            <a:r>
              <a:rPr lang="en-US" sz="1600" b="1" dirty="0">
                <a:latin typeface="Neue Haas Grotesk Text Pro" panose="020B0504020202020204" pitchFamily="34" charset="0"/>
              </a:rPr>
              <a:t>SEBS</a:t>
            </a:r>
          </a:p>
          <a:p>
            <a:r>
              <a:rPr lang="en-US" sz="1600" dirty="0">
                <a:latin typeface="Neue Haas Grotesk Text Pro" panose="020B0504020202020204" pitchFamily="34" charset="0"/>
              </a:rPr>
              <a:t>Job requirement issues quantity per at 15%, but the operators run the dosing unit at 18%.</a:t>
            </a:r>
          </a:p>
          <a:p>
            <a:pPr marL="0" indent="0">
              <a:buNone/>
            </a:pPr>
            <a:endParaRPr lang="en-US" sz="1600" dirty="0">
              <a:latin typeface="Neue Haas Grotesk Text Pro" panose="020B0504020202020204" pitchFamily="34" charset="0"/>
            </a:endParaRPr>
          </a:p>
          <a:p>
            <a:pPr marL="0" indent="0">
              <a:buNone/>
            </a:pPr>
            <a:r>
              <a:rPr lang="en-US" sz="1600" b="1" dirty="0">
                <a:latin typeface="Neue Haas Grotesk Text Pro" panose="020B0504020202020204" pitchFamily="34" charset="0"/>
              </a:rPr>
              <a:t>ENG, TPO</a:t>
            </a:r>
          </a:p>
          <a:p>
            <a:r>
              <a:rPr lang="en-US" sz="1600" dirty="0">
                <a:latin typeface="Neue Haas Grotesk Text Pro" panose="020B0504020202020204" pitchFamily="34" charset="0"/>
              </a:rPr>
              <a:t>Inconsistent measurements for start and end weight. The actual quantity is less than what was recorded on the additives logbook.</a:t>
            </a:r>
          </a:p>
        </p:txBody>
      </p:sp>
    </p:spTree>
    <p:extLst>
      <p:ext uri="{BB962C8B-B14F-4D97-AF65-F5344CB8AC3E}">
        <p14:creationId xmlns:p14="http://schemas.microsoft.com/office/powerpoint/2010/main" val="693057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96F5-08D3-A8B4-74C9-9A4A84907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85619-8CA7-A34B-74EE-4F477D084F0E}"/>
              </a:ext>
            </a:extLst>
          </p:cNvPr>
          <p:cNvSpPr>
            <a:spLocks noGrp="1"/>
          </p:cNvSpPr>
          <p:nvPr>
            <p:ph type="title"/>
          </p:nvPr>
        </p:nvSpPr>
        <p:spPr/>
        <p:txBody>
          <a:bodyPr/>
          <a:lstStyle/>
          <a:p>
            <a:r>
              <a:rPr lang="en-US" b="1" dirty="0">
                <a:latin typeface="Neue Haas Grotesk Text Pro" panose="020B0504020202020204" pitchFamily="34" charset="0"/>
              </a:rPr>
              <a:t>METHOD GAPS</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DFD3964E-50E8-2D82-BC8D-8A8D38B3087C}"/>
              </a:ext>
            </a:extLst>
          </p:cNvPr>
          <p:cNvSpPr>
            <a:spLocks noGrp="1"/>
          </p:cNvSpPr>
          <p:nvPr>
            <p:ph idx="1"/>
          </p:nvPr>
        </p:nvSpPr>
        <p:spPr/>
        <p:txBody>
          <a:bodyPr>
            <a:noAutofit/>
          </a:bodyPr>
          <a:lstStyle/>
          <a:p>
            <a:pPr marL="0" indent="0">
              <a:buNone/>
            </a:pPr>
            <a:r>
              <a:rPr lang="en-US" sz="1600" b="1" dirty="0">
                <a:latin typeface="Neue Haas Grotesk Text Pro" panose="020B0504020202020204" pitchFamily="34" charset="0"/>
              </a:rPr>
              <a:t>Dosing Unit Buffer:</a:t>
            </a:r>
          </a:p>
          <a:p>
            <a:r>
              <a:rPr lang="en-US" sz="1600" dirty="0">
                <a:latin typeface="Neue Haas Grotesk Text Pro" panose="020B0504020202020204" pitchFamily="34" charset="0"/>
              </a:rPr>
              <a:t>At the end of the shift, there are left-over number of additives within the dosing unit.</a:t>
            </a:r>
          </a:p>
          <a:p>
            <a:r>
              <a:rPr lang="en-US" sz="1600" dirty="0">
                <a:latin typeface="Neue Haas Grotesk Text Pro" panose="020B0504020202020204" pitchFamily="34" charset="0"/>
              </a:rPr>
              <a:t>The extruder operator issues a label with the weight of the additives box.</a:t>
            </a:r>
          </a:p>
          <a:p>
            <a:r>
              <a:rPr lang="en-US" sz="1600" dirty="0">
                <a:latin typeface="Neue Haas Grotesk Text Pro" panose="020B0504020202020204" pitchFamily="34" charset="0"/>
              </a:rPr>
              <a:t>The additives within the dosing unit are technically used but produced quantity is not calculated within the shift.</a:t>
            </a:r>
          </a:p>
          <a:p>
            <a:pPr marL="0" indent="0">
              <a:buNone/>
            </a:pPr>
            <a:endParaRPr lang="en-US" sz="1600" b="1" dirty="0">
              <a:latin typeface="Neue Haas Grotesk Text Pro" panose="020B0504020202020204" pitchFamily="34" charset="0"/>
            </a:endParaRPr>
          </a:p>
          <a:p>
            <a:pPr marL="0" indent="0">
              <a:buNone/>
            </a:pPr>
            <a:r>
              <a:rPr lang="en-US" sz="1600" b="1" dirty="0">
                <a:latin typeface="Neue Haas Grotesk Text Pro" panose="020B0504020202020204" pitchFamily="34" charset="0"/>
              </a:rPr>
              <a:t>Scrap Material Infeed Ratio:</a:t>
            </a:r>
          </a:p>
          <a:p>
            <a:r>
              <a:rPr lang="en-US" sz="1600" dirty="0">
                <a:latin typeface="Neue Haas Grotesk Text Pro" panose="020B0504020202020204" pitchFamily="34" charset="0"/>
              </a:rPr>
              <a:t>Some scrap materials have very drastically different properties. For example, some may have very high-melt while others have low-melt. </a:t>
            </a:r>
          </a:p>
          <a:p>
            <a:r>
              <a:rPr lang="en-US" sz="1600" dirty="0">
                <a:latin typeface="Neue Haas Grotesk Text Pro" panose="020B0504020202020204" pitchFamily="34" charset="0"/>
              </a:rPr>
              <a:t>Currently, there is no method implemented to visually separate scrap materials with different properties. This makes it such that the forklift operators have no choice but to randomly retrieve scrap materials from the floor. </a:t>
            </a:r>
          </a:p>
          <a:p>
            <a:r>
              <a:rPr lang="en-US" sz="1600" dirty="0">
                <a:latin typeface="Neue Haas Grotesk Text Pro" panose="020B0504020202020204" pitchFamily="34" charset="0"/>
              </a:rPr>
              <a:t>The random scrap materials that are retrieved may contain drastically different properties, leading to an increase in the number of additives used during a job.</a:t>
            </a:r>
          </a:p>
          <a:p>
            <a:pPr marL="0" indent="0">
              <a:buNone/>
            </a:pPr>
            <a:endParaRPr lang="en-US" sz="1600" dirty="0">
              <a:latin typeface="Neue Haas Grotesk Text Pro" panose="020B0504020202020204" pitchFamily="34" charset="0"/>
            </a:endParaRPr>
          </a:p>
        </p:txBody>
      </p:sp>
    </p:spTree>
    <p:extLst>
      <p:ext uri="{BB962C8B-B14F-4D97-AF65-F5344CB8AC3E}">
        <p14:creationId xmlns:p14="http://schemas.microsoft.com/office/powerpoint/2010/main" val="3614607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EFC0-F434-1FE4-C28F-BF7E26148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04545-99F0-6673-3450-A570E6FAF672}"/>
              </a:ext>
            </a:extLst>
          </p:cNvPr>
          <p:cNvSpPr>
            <a:spLocks noGrp="1"/>
          </p:cNvSpPr>
          <p:nvPr>
            <p:ph type="title"/>
          </p:nvPr>
        </p:nvSpPr>
        <p:spPr/>
        <p:txBody>
          <a:bodyPr/>
          <a:lstStyle/>
          <a:p>
            <a:r>
              <a:rPr lang="en-US" b="1" dirty="0">
                <a:latin typeface="Neue Haas Grotesk Text Pro" panose="020B0504020202020204" pitchFamily="34" charset="0"/>
              </a:rPr>
              <a:t>DATA GAPS</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2739C86D-BF21-57D4-9E94-79FABFEA6EFD}"/>
              </a:ext>
            </a:extLst>
          </p:cNvPr>
          <p:cNvSpPr>
            <a:spLocks noGrp="1"/>
          </p:cNvSpPr>
          <p:nvPr>
            <p:ph idx="1"/>
          </p:nvPr>
        </p:nvSpPr>
        <p:spPr/>
        <p:txBody>
          <a:bodyPr>
            <a:normAutofit/>
          </a:bodyPr>
          <a:lstStyle/>
          <a:p>
            <a:pPr marL="0" indent="0">
              <a:buNone/>
            </a:pPr>
            <a:r>
              <a:rPr lang="en-US" sz="1600" b="1" dirty="0">
                <a:latin typeface="Neue Haas Grotesk Text Pro" panose="020B0504020202020204" pitchFamily="34" charset="0"/>
              </a:rPr>
              <a:t>Quality Control Lab Feedback:</a:t>
            </a:r>
            <a:endParaRPr lang="en-US" sz="1600" dirty="0">
              <a:latin typeface="Neue Haas Grotesk Text Pro" panose="020B0504020202020204" pitchFamily="34" charset="0"/>
            </a:endParaRPr>
          </a:p>
          <a:p>
            <a:r>
              <a:rPr lang="en-US" sz="1600" dirty="0">
                <a:latin typeface="Neue Haas Grotesk Text Pro" panose="020B0504020202020204" pitchFamily="34" charset="0"/>
              </a:rPr>
              <a:t>Currently, there is no method implemented to directly record dosing percentage changes. </a:t>
            </a:r>
          </a:p>
          <a:p>
            <a:r>
              <a:rPr lang="en-US" sz="1600" dirty="0">
                <a:latin typeface="Neue Haas Grotesk Text Pro" panose="020B0504020202020204" pitchFamily="34" charset="0"/>
              </a:rPr>
              <a:t>It is verbally relayed to the supervisor at the end of the operator’s shift or when the supervisor is on the floor. </a:t>
            </a:r>
          </a:p>
          <a:p>
            <a:r>
              <a:rPr lang="en-US" sz="1600" dirty="0">
                <a:latin typeface="Neue Haas Grotesk Text Pro" panose="020B0504020202020204" pitchFamily="34" charset="0"/>
              </a:rPr>
              <a:t>As a result, this may create inconsistencies within the data used to calculate expected and actual number of additives used.</a:t>
            </a:r>
          </a:p>
          <a:p>
            <a:endParaRPr lang="en-US" sz="1600" dirty="0">
              <a:latin typeface="Neue Haas Grotesk Text Pro" panose="020B0504020202020204" pitchFamily="34" charset="0"/>
            </a:endParaRPr>
          </a:p>
          <a:p>
            <a:pPr marL="0" indent="0">
              <a:buNone/>
            </a:pPr>
            <a:r>
              <a:rPr lang="en-US" sz="1600" b="1" dirty="0">
                <a:latin typeface="Neue Haas Grotesk Text Pro" panose="020B0504020202020204" pitchFamily="34" charset="0"/>
              </a:rPr>
              <a:t>Additives Logbook to ERP:</a:t>
            </a:r>
          </a:p>
          <a:p>
            <a:r>
              <a:rPr lang="en-US" sz="1600" dirty="0">
                <a:latin typeface="Neue Haas Grotesk Text Pro" panose="020B0504020202020204" pitchFamily="34" charset="0"/>
              </a:rPr>
              <a:t>There are some discrepancies between logbook and ERP data for additives.</a:t>
            </a:r>
          </a:p>
          <a:p>
            <a:endParaRPr lang="en-US" sz="1600" dirty="0">
              <a:latin typeface="Neue Haas Grotesk Text Pro" panose="020B0504020202020204" pitchFamily="34" charset="0"/>
            </a:endParaRPr>
          </a:p>
          <a:p>
            <a:pPr marL="0" indent="0">
              <a:buNone/>
            </a:pPr>
            <a:endParaRPr lang="en-US" sz="1600" dirty="0">
              <a:latin typeface="Neue Haas Grotesk Text Pro" panose="020B0504020202020204" pitchFamily="34" charset="0"/>
            </a:endParaRPr>
          </a:p>
        </p:txBody>
      </p:sp>
      <p:sp>
        <p:nvSpPr>
          <p:cNvPr id="5" name="AutoShape 4">
            <a:extLst>
              <a:ext uri="{FF2B5EF4-FFF2-40B4-BE49-F238E27FC236}">
                <a16:creationId xmlns:a16="http://schemas.microsoft.com/office/drawing/2014/main" id="{26FC1570-C695-F609-D7AC-10A26EC4FE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11" name="Picture 10">
            <a:extLst>
              <a:ext uri="{FF2B5EF4-FFF2-40B4-BE49-F238E27FC236}">
                <a16:creationId xmlns:a16="http://schemas.microsoft.com/office/drawing/2014/main" id="{8826202E-67A8-34A4-1595-B2BD4BC0D08A}"/>
              </a:ext>
            </a:extLst>
          </p:cNvPr>
          <p:cNvPicPr>
            <a:picLocks noChangeAspect="1"/>
          </p:cNvPicPr>
          <p:nvPr/>
        </p:nvPicPr>
        <p:blipFill>
          <a:blip r:embed="rId2"/>
          <a:srcRect l="458" t="12570" r="56" b="7809"/>
          <a:stretch>
            <a:fillRect/>
          </a:stretch>
        </p:blipFill>
        <p:spPr>
          <a:xfrm>
            <a:off x="885703" y="4749700"/>
            <a:ext cx="10318849" cy="519112"/>
          </a:xfrm>
          <a:prstGeom prst="rect">
            <a:avLst/>
          </a:prstGeom>
        </p:spPr>
      </p:pic>
      <p:pic>
        <p:nvPicPr>
          <p:cNvPr id="13" name="Picture 12">
            <a:extLst>
              <a:ext uri="{FF2B5EF4-FFF2-40B4-BE49-F238E27FC236}">
                <a16:creationId xmlns:a16="http://schemas.microsoft.com/office/drawing/2014/main" id="{35CE93C2-6646-34C7-73B1-F594DB5A3919}"/>
              </a:ext>
            </a:extLst>
          </p:cNvPr>
          <p:cNvPicPr>
            <a:picLocks noChangeAspect="1"/>
          </p:cNvPicPr>
          <p:nvPr/>
        </p:nvPicPr>
        <p:blipFill>
          <a:blip r:embed="rId3">
            <a:extLst>
              <a:ext uri="{28A0092B-C50C-407E-A947-70E740481C1C}">
                <a14:useLocalDpi xmlns:a14="http://schemas.microsoft.com/office/drawing/2010/main" val="0"/>
              </a:ext>
            </a:extLst>
          </a:blip>
          <a:srcRect l="12191" t="72800" b="16290"/>
          <a:stretch>
            <a:fillRect/>
          </a:stretch>
        </p:blipFill>
        <p:spPr>
          <a:xfrm>
            <a:off x="885703" y="5414766"/>
            <a:ext cx="4707575" cy="438698"/>
          </a:xfrm>
          <a:prstGeom prst="rect">
            <a:avLst/>
          </a:prstGeom>
        </p:spPr>
      </p:pic>
    </p:spTree>
    <p:extLst>
      <p:ext uri="{BB962C8B-B14F-4D97-AF65-F5344CB8AC3E}">
        <p14:creationId xmlns:p14="http://schemas.microsoft.com/office/powerpoint/2010/main" val="400781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B69A-E6B2-2783-25BB-D10149484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C718A-AA46-942A-3D9D-73A3DB2C85A0}"/>
              </a:ext>
            </a:extLst>
          </p:cNvPr>
          <p:cNvSpPr>
            <a:spLocks noGrp="1"/>
          </p:cNvSpPr>
          <p:nvPr>
            <p:ph type="title"/>
          </p:nvPr>
        </p:nvSpPr>
        <p:spPr/>
        <p:txBody>
          <a:bodyPr/>
          <a:lstStyle/>
          <a:p>
            <a:r>
              <a:rPr lang="en-US" b="1" dirty="0">
                <a:latin typeface="Neue Haas Grotesk Text Pro" panose="020B0504020202020204" pitchFamily="34" charset="0"/>
              </a:rPr>
              <a:t>SUGGESTIONS</a:t>
            </a:r>
            <a:endParaRPr lang="en-CA" b="1" dirty="0">
              <a:latin typeface="Neue Haas Grotesk Text Pro" panose="020B0504020202020204" pitchFamily="34" charset="0"/>
            </a:endParaRPr>
          </a:p>
        </p:txBody>
      </p:sp>
      <p:sp>
        <p:nvSpPr>
          <p:cNvPr id="3" name="Content Placeholder 2">
            <a:extLst>
              <a:ext uri="{FF2B5EF4-FFF2-40B4-BE49-F238E27FC236}">
                <a16:creationId xmlns:a16="http://schemas.microsoft.com/office/drawing/2014/main" id="{1665F74C-D815-287D-43C5-88CFFC6A3ED8}"/>
              </a:ext>
            </a:extLst>
          </p:cNvPr>
          <p:cNvSpPr>
            <a:spLocks noGrp="1"/>
          </p:cNvSpPr>
          <p:nvPr>
            <p:ph idx="1"/>
          </p:nvPr>
        </p:nvSpPr>
        <p:spPr/>
        <p:txBody>
          <a:bodyPr>
            <a:normAutofit/>
          </a:bodyPr>
          <a:lstStyle/>
          <a:p>
            <a:r>
              <a:rPr lang="en-US" sz="1600" dirty="0">
                <a:latin typeface="Neue Haas Grotesk Text Pro" panose="020B0504020202020204" pitchFamily="34" charset="0"/>
              </a:rPr>
              <a:t>Ensure accurate and appropriate measurement and data-logging methods to ensure all data can be representative of production.</a:t>
            </a:r>
          </a:p>
          <a:p>
            <a:r>
              <a:rPr lang="en-US" sz="1600" dirty="0">
                <a:latin typeface="Neue Haas Grotesk Text Pro" panose="020B0504020202020204" pitchFamily="34" charset="0"/>
              </a:rPr>
              <a:t>Organize and visually separate scrap materials based on their properties. </a:t>
            </a:r>
          </a:p>
          <a:p>
            <a:endParaRPr lang="en-US" sz="1600" dirty="0">
              <a:latin typeface="Neue Haas Grotesk Text Pro" panose="020B0504020202020204" pitchFamily="34" charset="0"/>
            </a:endParaRPr>
          </a:p>
        </p:txBody>
      </p:sp>
    </p:spTree>
    <p:extLst>
      <p:ext uri="{BB962C8B-B14F-4D97-AF65-F5344CB8AC3E}">
        <p14:creationId xmlns:p14="http://schemas.microsoft.com/office/powerpoint/2010/main" val="16679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TotalTime>
  <Words>617</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Neue Haas Grotesk Text Pro</vt:lpstr>
      <vt:lpstr>Office Theme</vt:lpstr>
      <vt:lpstr>ADDITIVES VARIANCE CORRECTION REPORT</vt:lpstr>
      <vt:lpstr>PROCESS OVERVIEW</vt:lpstr>
      <vt:lpstr>PROCESS OVERVIEW</vt:lpstr>
      <vt:lpstr>RAW DATA TABLE</vt:lpstr>
      <vt:lpstr>TIME STUDY</vt:lpstr>
      <vt:lpstr>METHOD GAPS</vt:lpstr>
      <vt:lpstr>METHOD GAPS</vt:lpstr>
      <vt:lpstr>DATA GAPS</vt:lpstr>
      <vt:lpstr>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Anson Mou</dc:creator>
  <cp:lastModifiedBy>Anson Mou</cp:lastModifiedBy>
  <cp:revision>3</cp:revision>
  <dcterms:created xsi:type="dcterms:W3CDTF">2026-06-08T13:30:59Z</dcterms:created>
  <dcterms:modified xsi:type="dcterms:W3CDTF">2026-06-10T21:14:00Z</dcterms:modified>
</cp:coreProperties>
</file>